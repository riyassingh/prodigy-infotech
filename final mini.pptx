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6" r:id="rId6"/>
    <p:sldId id="261" r:id="rId7"/>
    <p:sldId id="262" r:id="rId8"/>
    <p:sldId id="267" r:id="rId9"/>
    <p:sldId id="268" r:id="rId10"/>
    <p:sldId id="260" r:id="rId11"/>
    <p:sldId id="265" r:id="rId12"/>
    <p:sldId id="269" r:id="rId13"/>
    <p:sldId id="270" r:id="rId1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370"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1" i="1">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779651" y="0"/>
            <a:ext cx="10412349" cy="1325626"/>
          </a:xfrm>
          <a:prstGeom prst="rect">
            <a:avLst/>
          </a:prstGeom>
        </p:spPr>
      </p:pic>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1" i="1">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946782" y="0"/>
            <a:ext cx="10245217" cy="1325626"/>
          </a:xfrm>
          <a:prstGeom prst="rect">
            <a:avLst/>
          </a:prstGeom>
        </p:spPr>
      </p:pic>
      <p:sp>
        <p:nvSpPr>
          <p:cNvPr id="2" name="Holder 2"/>
          <p:cNvSpPr>
            <a:spLocks noGrp="1"/>
          </p:cNvSpPr>
          <p:nvPr>
            <p:ph type="title"/>
          </p:nvPr>
        </p:nvSpPr>
        <p:spPr>
          <a:xfrm>
            <a:off x="1900554" y="286004"/>
            <a:ext cx="10166985" cy="647191"/>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1527428" y="2023110"/>
            <a:ext cx="9137142" cy="3670935"/>
          </a:xfrm>
          <a:prstGeom prst="rect">
            <a:avLst/>
          </a:prstGeom>
        </p:spPr>
        <p:txBody>
          <a:bodyPr wrap="square" lIns="0" tIns="0" rIns="0" bIns="0">
            <a:spAutoFit/>
          </a:bodyPr>
          <a:lstStyle>
            <a:lvl1pPr>
              <a:defRPr sz="2800" b="1" i="1">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5/16/2025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g"/><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g"/><Relationship Id="rId1" Type="http://schemas.openxmlformats.org/officeDocument/2006/relationships/slideLayout" Target="../slideLayouts/slideLayout4.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jpg"/><Relationship Id="rId1" Type="http://schemas.openxmlformats.org/officeDocument/2006/relationships/slideLayout" Target="../slideLayouts/slideLayout4.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www.tensorflow.org/"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4962" rIns="0" bIns="0" rtlCol="0">
            <a:spAutoFit/>
          </a:bodyPr>
          <a:lstStyle/>
          <a:p>
            <a:pPr marL="12700">
              <a:lnSpc>
                <a:spcPct val="100000"/>
              </a:lnSpc>
              <a:spcBef>
                <a:spcPts val="105"/>
              </a:spcBef>
            </a:pPr>
            <a:r>
              <a:rPr b="0" dirty="0">
                <a:latin typeface="Times New Roman"/>
                <a:cs typeface="Times New Roman"/>
              </a:rPr>
              <a:t>Noida</a:t>
            </a:r>
            <a:r>
              <a:rPr b="0" spc="-35" dirty="0">
                <a:latin typeface="Times New Roman"/>
                <a:cs typeface="Times New Roman"/>
              </a:rPr>
              <a:t> </a:t>
            </a:r>
            <a:r>
              <a:rPr b="0" dirty="0">
                <a:latin typeface="Times New Roman"/>
                <a:cs typeface="Times New Roman"/>
              </a:rPr>
              <a:t>Institute</a:t>
            </a:r>
            <a:r>
              <a:rPr b="0" spc="-45" dirty="0">
                <a:latin typeface="Times New Roman"/>
                <a:cs typeface="Times New Roman"/>
              </a:rPr>
              <a:t> </a:t>
            </a:r>
            <a:r>
              <a:rPr b="0" dirty="0">
                <a:latin typeface="Times New Roman"/>
                <a:cs typeface="Times New Roman"/>
              </a:rPr>
              <a:t>of</a:t>
            </a:r>
            <a:r>
              <a:rPr b="0" spc="-20" dirty="0">
                <a:latin typeface="Times New Roman"/>
                <a:cs typeface="Times New Roman"/>
              </a:rPr>
              <a:t> </a:t>
            </a:r>
            <a:r>
              <a:rPr b="0" dirty="0">
                <a:latin typeface="Times New Roman"/>
                <a:cs typeface="Times New Roman"/>
              </a:rPr>
              <a:t>Engineering</a:t>
            </a:r>
            <a:r>
              <a:rPr b="0" spc="-55" dirty="0">
                <a:latin typeface="Times New Roman"/>
                <a:cs typeface="Times New Roman"/>
              </a:rPr>
              <a:t> </a:t>
            </a:r>
            <a:r>
              <a:rPr b="0" dirty="0">
                <a:latin typeface="Times New Roman"/>
                <a:cs typeface="Times New Roman"/>
              </a:rPr>
              <a:t>and</a:t>
            </a:r>
            <a:r>
              <a:rPr b="0" spc="-90" dirty="0">
                <a:latin typeface="Times New Roman"/>
                <a:cs typeface="Times New Roman"/>
              </a:rPr>
              <a:t> </a:t>
            </a:r>
            <a:r>
              <a:rPr b="0" spc="-35" dirty="0">
                <a:latin typeface="Times New Roman"/>
                <a:cs typeface="Times New Roman"/>
              </a:rPr>
              <a:t>Technology,</a:t>
            </a:r>
            <a:r>
              <a:rPr b="0" spc="-65" dirty="0">
                <a:latin typeface="Times New Roman"/>
                <a:cs typeface="Times New Roman"/>
              </a:rPr>
              <a:t> </a:t>
            </a:r>
            <a:r>
              <a:rPr b="0" dirty="0">
                <a:latin typeface="Times New Roman"/>
                <a:cs typeface="Times New Roman"/>
              </a:rPr>
              <a:t>Greater</a:t>
            </a:r>
            <a:r>
              <a:rPr b="0" spc="-35" dirty="0">
                <a:latin typeface="Times New Roman"/>
                <a:cs typeface="Times New Roman"/>
              </a:rPr>
              <a:t> </a:t>
            </a:r>
            <a:r>
              <a:rPr b="0" spc="-10" dirty="0">
                <a:latin typeface="Times New Roman"/>
                <a:cs typeface="Times New Roman"/>
              </a:rPr>
              <a:t>Noida</a:t>
            </a:r>
          </a:p>
        </p:txBody>
      </p:sp>
      <p:sp>
        <p:nvSpPr>
          <p:cNvPr id="3" name="object 3"/>
          <p:cNvSpPr txBox="1"/>
          <p:nvPr/>
        </p:nvSpPr>
        <p:spPr>
          <a:xfrm>
            <a:off x="1929383" y="1536191"/>
            <a:ext cx="8181340" cy="1622688"/>
          </a:xfrm>
          <a:prstGeom prst="rect">
            <a:avLst/>
          </a:prstGeom>
          <a:ln w="12700">
            <a:solidFill>
              <a:srgbClr val="5B9BD4"/>
            </a:solidFill>
          </a:ln>
        </p:spPr>
        <p:txBody>
          <a:bodyPr vert="horz" wrap="square" lIns="0" tIns="401320" rIns="0" bIns="0" rtlCol="0">
            <a:spAutoFit/>
          </a:bodyPr>
          <a:lstStyle/>
          <a:p>
            <a:pPr marL="2165985" marR="1616075" indent="-541020">
              <a:lnSpc>
                <a:spcPct val="113100"/>
              </a:lnSpc>
              <a:spcBef>
                <a:spcPts val="3160"/>
              </a:spcBef>
            </a:pPr>
            <a:r>
              <a:rPr sz="3600" b="1" u="sng" dirty="0">
                <a:uFill>
                  <a:solidFill>
                    <a:srgbClr val="000000"/>
                  </a:solidFill>
                </a:uFill>
                <a:latin typeface="Calibri"/>
                <a:cs typeface="Calibri"/>
              </a:rPr>
              <a:t>6th</a:t>
            </a:r>
            <a:r>
              <a:rPr sz="3600" b="1" u="sng" spc="-80" dirty="0">
                <a:uFill>
                  <a:solidFill>
                    <a:srgbClr val="000000"/>
                  </a:solidFill>
                </a:uFill>
                <a:latin typeface="Calibri"/>
                <a:cs typeface="Calibri"/>
              </a:rPr>
              <a:t> </a:t>
            </a:r>
            <a:r>
              <a:rPr sz="3600" b="1" u="sng" dirty="0">
                <a:uFill>
                  <a:solidFill>
                    <a:srgbClr val="000000"/>
                  </a:solidFill>
                </a:uFill>
                <a:latin typeface="Calibri"/>
                <a:cs typeface="Calibri"/>
              </a:rPr>
              <a:t>Semester</a:t>
            </a:r>
            <a:r>
              <a:rPr sz="3600" b="1" u="sng" spc="-85" dirty="0">
                <a:uFill>
                  <a:solidFill>
                    <a:srgbClr val="000000"/>
                  </a:solidFill>
                </a:uFill>
                <a:latin typeface="Calibri"/>
                <a:cs typeface="Calibri"/>
              </a:rPr>
              <a:t> </a:t>
            </a:r>
            <a:r>
              <a:rPr sz="3600" b="1" u="sng" dirty="0">
                <a:uFill>
                  <a:solidFill>
                    <a:srgbClr val="000000"/>
                  </a:solidFill>
                </a:uFill>
                <a:latin typeface="Calibri"/>
                <a:cs typeface="Calibri"/>
              </a:rPr>
              <a:t>Mini</a:t>
            </a:r>
            <a:r>
              <a:rPr sz="3600" b="1" u="sng" spc="-80" dirty="0">
                <a:uFill>
                  <a:solidFill>
                    <a:srgbClr val="000000"/>
                  </a:solidFill>
                </a:uFill>
                <a:latin typeface="Calibri"/>
                <a:cs typeface="Calibri"/>
              </a:rPr>
              <a:t> </a:t>
            </a:r>
            <a:r>
              <a:rPr sz="3600" b="1" u="sng" spc="-10" dirty="0">
                <a:uFill>
                  <a:solidFill>
                    <a:srgbClr val="000000"/>
                  </a:solidFill>
                </a:uFill>
                <a:latin typeface="Calibri"/>
                <a:cs typeface="Calibri"/>
              </a:rPr>
              <a:t>Project</a:t>
            </a:r>
            <a:r>
              <a:rPr sz="3600" b="1" spc="-10" dirty="0">
                <a:latin typeface="Calibri"/>
                <a:cs typeface="Calibri"/>
              </a:rPr>
              <a:t> </a:t>
            </a:r>
            <a:r>
              <a:rPr lang="en-US" sz="3600" b="1" u="sng" spc="-10" dirty="0">
                <a:uFill>
                  <a:solidFill>
                    <a:srgbClr val="000000"/>
                  </a:solidFill>
                </a:uFill>
                <a:latin typeface="Calibri"/>
                <a:cs typeface="Calibri"/>
              </a:rPr>
              <a:t>ECOMMERCE WEBSITE</a:t>
            </a:r>
            <a:endParaRPr sz="3600" dirty="0">
              <a:latin typeface="Calibri"/>
              <a:cs typeface="Calibri"/>
            </a:endParaRPr>
          </a:p>
        </p:txBody>
      </p:sp>
      <p:sp>
        <p:nvSpPr>
          <p:cNvPr id="4" name="object 4"/>
          <p:cNvSpPr txBox="1"/>
          <p:nvPr/>
        </p:nvSpPr>
        <p:spPr>
          <a:xfrm>
            <a:off x="1929383" y="3971544"/>
            <a:ext cx="3886200" cy="1454244"/>
          </a:xfrm>
          <a:prstGeom prst="rect">
            <a:avLst/>
          </a:prstGeom>
          <a:ln w="12700">
            <a:solidFill>
              <a:srgbClr val="5B9BD4"/>
            </a:solidFill>
          </a:ln>
        </p:spPr>
        <p:txBody>
          <a:bodyPr vert="horz" wrap="square" lIns="0" tIns="30480" rIns="0" bIns="0" rtlCol="0">
            <a:spAutoFit/>
          </a:bodyPr>
          <a:lstStyle/>
          <a:p>
            <a:pPr marL="91440">
              <a:lnSpc>
                <a:spcPct val="100000"/>
              </a:lnSpc>
              <a:spcBef>
                <a:spcPts val="240"/>
              </a:spcBef>
            </a:pPr>
            <a:r>
              <a:rPr sz="2000" b="1" spc="-10" dirty="0">
                <a:latin typeface="Calibri"/>
                <a:cs typeface="Calibri"/>
              </a:rPr>
              <a:t>Presented</a:t>
            </a:r>
            <a:r>
              <a:rPr sz="2000" b="1" spc="-45" dirty="0">
                <a:latin typeface="Calibri"/>
                <a:cs typeface="Calibri"/>
              </a:rPr>
              <a:t> </a:t>
            </a:r>
            <a:r>
              <a:rPr sz="2000" b="1" spc="-25" dirty="0">
                <a:latin typeface="Calibri"/>
                <a:cs typeface="Calibri"/>
              </a:rPr>
              <a:t>To:</a:t>
            </a:r>
            <a:endParaRPr sz="2000" dirty="0">
              <a:latin typeface="Calibri"/>
              <a:cs typeface="Calibri"/>
            </a:endParaRPr>
          </a:p>
          <a:p>
            <a:pPr marL="91440">
              <a:lnSpc>
                <a:spcPct val="100000"/>
              </a:lnSpc>
              <a:spcBef>
                <a:spcPts val="480"/>
              </a:spcBef>
            </a:pPr>
            <a:r>
              <a:rPr sz="2000" spc="-55" dirty="0">
                <a:latin typeface="Calibri"/>
                <a:cs typeface="Calibri"/>
              </a:rPr>
              <a:t>M</a:t>
            </a:r>
            <a:r>
              <a:rPr lang="en-IN" sz="2000" spc="-55" dirty="0">
                <a:latin typeface="Calibri"/>
                <a:cs typeface="Calibri"/>
              </a:rPr>
              <a:t>s. Aarushi Thusu</a:t>
            </a:r>
          </a:p>
          <a:p>
            <a:pPr marL="91440">
              <a:lnSpc>
                <a:spcPct val="100000"/>
              </a:lnSpc>
              <a:spcBef>
                <a:spcPts val="480"/>
              </a:spcBef>
            </a:pPr>
            <a:r>
              <a:rPr lang="en-IN" sz="2000" spc="-55" dirty="0">
                <a:latin typeface="Calibri"/>
                <a:cs typeface="Calibri"/>
              </a:rPr>
              <a:t>Ms. Neelam </a:t>
            </a:r>
            <a:endParaRPr sz="2000" dirty="0">
              <a:latin typeface="Calibri"/>
              <a:cs typeface="Calibri"/>
            </a:endParaRPr>
          </a:p>
          <a:p>
            <a:pPr marL="91440">
              <a:lnSpc>
                <a:spcPct val="100000"/>
              </a:lnSpc>
              <a:spcBef>
                <a:spcPts val="535"/>
              </a:spcBef>
            </a:pPr>
            <a:r>
              <a:rPr sz="2000" dirty="0">
                <a:latin typeface="Times New Roman"/>
                <a:cs typeface="Times New Roman"/>
              </a:rPr>
              <a:t>Department</a:t>
            </a:r>
            <a:r>
              <a:rPr sz="2000" spc="-35" dirty="0">
                <a:latin typeface="Times New Roman"/>
                <a:cs typeface="Times New Roman"/>
              </a:rPr>
              <a:t> </a:t>
            </a:r>
            <a:r>
              <a:rPr sz="2000" dirty="0">
                <a:latin typeface="Times New Roman"/>
                <a:cs typeface="Times New Roman"/>
              </a:rPr>
              <a:t>of</a:t>
            </a:r>
            <a:r>
              <a:rPr sz="2000" spc="-25" dirty="0">
                <a:latin typeface="Times New Roman"/>
                <a:cs typeface="Times New Roman"/>
              </a:rPr>
              <a:t> </a:t>
            </a:r>
            <a:r>
              <a:rPr sz="2000" dirty="0">
                <a:latin typeface="Times New Roman"/>
                <a:cs typeface="Times New Roman"/>
              </a:rPr>
              <a:t>CSE-</a:t>
            </a:r>
            <a:r>
              <a:rPr sz="2000" spc="-20" dirty="0">
                <a:latin typeface="Times New Roman"/>
                <a:cs typeface="Times New Roman"/>
              </a:rPr>
              <a:t>AIML</a:t>
            </a:r>
            <a:endParaRPr sz="2000" dirty="0">
              <a:latin typeface="Times New Roman"/>
              <a:cs typeface="Times New Roman"/>
            </a:endParaRPr>
          </a:p>
        </p:txBody>
      </p:sp>
      <p:sp>
        <p:nvSpPr>
          <p:cNvPr id="5" name="object 5"/>
          <p:cNvSpPr txBox="1"/>
          <p:nvPr/>
        </p:nvSpPr>
        <p:spPr>
          <a:xfrm>
            <a:off x="6468490" y="3971544"/>
            <a:ext cx="4419600" cy="2139496"/>
          </a:xfrm>
          <a:prstGeom prst="rect">
            <a:avLst/>
          </a:prstGeom>
          <a:ln w="12700">
            <a:solidFill>
              <a:srgbClr val="5B9BD4"/>
            </a:solidFill>
          </a:ln>
        </p:spPr>
        <p:txBody>
          <a:bodyPr vert="horz" wrap="square" lIns="0" tIns="26670" rIns="0" bIns="0" rtlCol="0">
            <a:spAutoFit/>
          </a:bodyPr>
          <a:lstStyle/>
          <a:p>
            <a:pPr marL="92075">
              <a:lnSpc>
                <a:spcPct val="100000"/>
              </a:lnSpc>
              <a:spcBef>
                <a:spcPts val="210"/>
              </a:spcBef>
            </a:pPr>
            <a:r>
              <a:rPr sz="2400" b="1" spc="-10" dirty="0">
                <a:latin typeface="Calibri"/>
                <a:cs typeface="Calibri"/>
              </a:rPr>
              <a:t>Presented</a:t>
            </a:r>
            <a:r>
              <a:rPr sz="2400" b="1" spc="-75" dirty="0">
                <a:latin typeface="Calibri"/>
                <a:cs typeface="Calibri"/>
              </a:rPr>
              <a:t> </a:t>
            </a:r>
            <a:r>
              <a:rPr sz="2400" b="1" spc="-25" dirty="0">
                <a:latin typeface="Calibri"/>
                <a:cs typeface="Calibri"/>
              </a:rPr>
              <a:t>By:</a:t>
            </a:r>
            <a:endParaRPr sz="2400" dirty="0">
              <a:latin typeface="Calibri"/>
              <a:cs typeface="Calibri"/>
            </a:endParaRPr>
          </a:p>
          <a:p>
            <a:pPr marL="92075" marR="335280">
              <a:lnSpc>
                <a:spcPct val="120000"/>
              </a:lnSpc>
            </a:pPr>
            <a:r>
              <a:rPr lang="en-US" sz="2400" spc="-85" dirty="0">
                <a:latin typeface="Calibri"/>
                <a:cs typeface="Calibri"/>
              </a:rPr>
              <a:t>Riya Singh</a:t>
            </a:r>
            <a:r>
              <a:rPr sz="2400" spc="-85" dirty="0">
                <a:latin typeface="Calibri"/>
                <a:cs typeface="Calibri"/>
              </a:rPr>
              <a:t> </a:t>
            </a:r>
            <a:r>
              <a:rPr sz="2400" spc="-10" dirty="0">
                <a:latin typeface="Calibri"/>
                <a:cs typeface="Calibri"/>
              </a:rPr>
              <a:t>(22013315301</a:t>
            </a:r>
            <a:r>
              <a:rPr lang="en-US" sz="2400" spc="-10" dirty="0">
                <a:latin typeface="Calibri"/>
                <a:cs typeface="Calibri"/>
              </a:rPr>
              <a:t>61</a:t>
            </a:r>
            <a:r>
              <a:rPr sz="2400" spc="-10" dirty="0">
                <a:latin typeface="Calibri"/>
                <a:cs typeface="Calibri"/>
              </a:rPr>
              <a:t>)</a:t>
            </a:r>
            <a:endParaRPr lang="en-US" sz="2400" spc="-10" dirty="0">
              <a:latin typeface="Calibri"/>
              <a:cs typeface="Calibri"/>
            </a:endParaRPr>
          </a:p>
          <a:p>
            <a:pPr marL="92075" marR="335280">
              <a:lnSpc>
                <a:spcPct val="120000"/>
              </a:lnSpc>
            </a:pPr>
            <a:r>
              <a:rPr lang="en-IN" sz="2400" spc="-10" dirty="0">
                <a:latin typeface="Calibri"/>
                <a:cs typeface="Calibri"/>
              </a:rPr>
              <a:t>Shraddha Tripathi(2201331530177)</a:t>
            </a:r>
            <a:endParaRPr lang="en-US" sz="2400" spc="-10" dirty="0">
              <a:latin typeface="Calibri"/>
              <a:cs typeface="Calibri"/>
            </a:endParaRPr>
          </a:p>
          <a:p>
            <a:pPr marL="92075" marR="335280">
              <a:lnSpc>
                <a:spcPct val="120000"/>
              </a:lnSpc>
            </a:pPr>
            <a:r>
              <a:rPr sz="2400" spc="-10" dirty="0">
                <a:latin typeface="Calibri"/>
                <a:cs typeface="Calibri"/>
              </a:rPr>
              <a:t> AIML-</a:t>
            </a:r>
            <a:r>
              <a:rPr sz="2400" spc="-50" dirty="0">
                <a:latin typeface="Calibri"/>
                <a:cs typeface="Calibri"/>
              </a:rPr>
              <a:t>A</a:t>
            </a:r>
            <a:endParaRPr sz="2400" dirty="0">
              <a:latin typeface="Calibri"/>
              <a:cs typeface="Calibri"/>
            </a:endParaRPr>
          </a:p>
        </p:txBody>
      </p:sp>
      <p:pic>
        <p:nvPicPr>
          <p:cNvPr id="6" name="object 6"/>
          <p:cNvPicPr/>
          <p:nvPr/>
        </p:nvPicPr>
        <p:blipFill>
          <a:blip r:embed="rId2" cstate="print"/>
          <a:stretch>
            <a:fillRect/>
          </a:stretch>
        </p:blipFill>
        <p:spPr>
          <a:xfrm>
            <a:off x="50178" y="68821"/>
            <a:ext cx="1729472" cy="11503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4962" rIns="0" bIns="0" rtlCol="0">
            <a:spAutoFit/>
          </a:bodyPr>
          <a:lstStyle/>
          <a:p>
            <a:pPr marL="12700">
              <a:lnSpc>
                <a:spcPct val="100000"/>
              </a:lnSpc>
              <a:spcBef>
                <a:spcPts val="105"/>
              </a:spcBef>
            </a:pPr>
            <a:r>
              <a:rPr b="0" dirty="0">
                <a:latin typeface="Times New Roman"/>
                <a:cs typeface="Times New Roman"/>
              </a:rPr>
              <a:t>Noida</a:t>
            </a:r>
            <a:r>
              <a:rPr b="0" spc="-35" dirty="0">
                <a:latin typeface="Times New Roman"/>
                <a:cs typeface="Times New Roman"/>
              </a:rPr>
              <a:t> </a:t>
            </a:r>
            <a:r>
              <a:rPr b="0" dirty="0">
                <a:latin typeface="Times New Roman"/>
                <a:cs typeface="Times New Roman"/>
              </a:rPr>
              <a:t>Institute</a:t>
            </a:r>
            <a:r>
              <a:rPr b="0" spc="-45" dirty="0">
                <a:latin typeface="Times New Roman"/>
                <a:cs typeface="Times New Roman"/>
              </a:rPr>
              <a:t> </a:t>
            </a:r>
            <a:r>
              <a:rPr b="0" dirty="0">
                <a:latin typeface="Times New Roman"/>
                <a:cs typeface="Times New Roman"/>
              </a:rPr>
              <a:t>of</a:t>
            </a:r>
            <a:r>
              <a:rPr b="0" spc="-20" dirty="0">
                <a:latin typeface="Times New Roman"/>
                <a:cs typeface="Times New Roman"/>
              </a:rPr>
              <a:t> </a:t>
            </a:r>
            <a:r>
              <a:rPr b="0" dirty="0">
                <a:latin typeface="Times New Roman"/>
                <a:cs typeface="Times New Roman"/>
              </a:rPr>
              <a:t>Engineering</a:t>
            </a:r>
            <a:r>
              <a:rPr b="0" spc="-55" dirty="0">
                <a:latin typeface="Times New Roman"/>
                <a:cs typeface="Times New Roman"/>
              </a:rPr>
              <a:t> </a:t>
            </a:r>
            <a:r>
              <a:rPr b="0" dirty="0">
                <a:latin typeface="Times New Roman"/>
                <a:cs typeface="Times New Roman"/>
              </a:rPr>
              <a:t>and</a:t>
            </a:r>
            <a:r>
              <a:rPr b="0" spc="-90" dirty="0">
                <a:latin typeface="Times New Roman"/>
                <a:cs typeface="Times New Roman"/>
              </a:rPr>
              <a:t> </a:t>
            </a:r>
            <a:r>
              <a:rPr b="0" spc="-35" dirty="0">
                <a:latin typeface="Times New Roman"/>
                <a:cs typeface="Times New Roman"/>
              </a:rPr>
              <a:t>Technology,</a:t>
            </a:r>
            <a:r>
              <a:rPr b="0" spc="-65" dirty="0">
                <a:latin typeface="Times New Roman"/>
                <a:cs typeface="Times New Roman"/>
              </a:rPr>
              <a:t> </a:t>
            </a:r>
            <a:r>
              <a:rPr b="0" dirty="0">
                <a:latin typeface="Times New Roman"/>
                <a:cs typeface="Times New Roman"/>
              </a:rPr>
              <a:t>Greater</a:t>
            </a:r>
            <a:r>
              <a:rPr b="0" spc="-35" dirty="0">
                <a:latin typeface="Times New Roman"/>
                <a:cs typeface="Times New Roman"/>
              </a:rPr>
              <a:t> </a:t>
            </a:r>
            <a:r>
              <a:rPr b="0" spc="-10" dirty="0">
                <a:latin typeface="Times New Roman"/>
                <a:cs typeface="Times New Roman"/>
              </a:rPr>
              <a:t>Noida</a:t>
            </a:r>
          </a:p>
        </p:txBody>
      </p:sp>
      <p:sp>
        <p:nvSpPr>
          <p:cNvPr id="3" name="object 3"/>
          <p:cNvSpPr txBox="1">
            <a:spLocks noGrp="1"/>
          </p:cNvSpPr>
          <p:nvPr>
            <p:ph type="body" idx="1"/>
          </p:nvPr>
        </p:nvSpPr>
        <p:spPr>
          <a:xfrm>
            <a:off x="1527428" y="2023110"/>
            <a:ext cx="9137142" cy="4365939"/>
          </a:xfrm>
          <a:prstGeom prst="rect">
            <a:avLst/>
          </a:prstGeom>
        </p:spPr>
        <p:txBody>
          <a:bodyPr vert="horz" wrap="square" lIns="0" tIns="13335" rIns="0" bIns="0" rtlCol="0">
            <a:spAutoFit/>
          </a:bodyPr>
          <a:lstStyle/>
          <a:p>
            <a:pPr marL="293370" algn="ctr">
              <a:lnSpc>
                <a:spcPct val="150000"/>
              </a:lnSpc>
              <a:spcBef>
                <a:spcPts val="105"/>
              </a:spcBef>
            </a:pPr>
            <a:r>
              <a:rPr sz="4400" b="0" i="0" u="sng" spc="150" dirty="0">
                <a:latin typeface="Trebuchet MS"/>
                <a:cs typeface="Trebuchet MS"/>
              </a:rPr>
              <a:t>PRO</a:t>
            </a:r>
            <a:r>
              <a:rPr lang="en-US" sz="4400" b="0" i="0" u="sng" spc="150" dirty="0">
                <a:latin typeface="Trebuchet MS"/>
                <a:cs typeface="Trebuchet MS"/>
              </a:rPr>
              <a:t>BLEM STATEMENT</a:t>
            </a:r>
            <a:r>
              <a:rPr sz="4400" b="0" i="0" u="sng" spc="-240" dirty="0">
                <a:latin typeface="Trebuchet MS"/>
                <a:cs typeface="Trebuchet MS"/>
              </a:rPr>
              <a:t> </a:t>
            </a:r>
            <a:r>
              <a:rPr sz="4400" b="0" i="0" u="sng" spc="-50" dirty="0">
                <a:latin typeface="Trebuchet MS"/>
                <a:cs typeface="Trebuchet MS"/>
              </a:rPr>
              <a:t>:</a:t>
            </a:r>
            <a:endParaRPr lang="en-US" sz="4400" b="0" i="0" u="sng" spc="-50" dirty="0">
              <a:latin typeface="Trebuchet MS"/>
              <a:cs typeface="Trebuchet MS"/>
            </a:endParaRPr>
          </a:p>
          <a:p>
            <a:pPr marL="293370" algn="l">
              <a:lnSpc>
                <a:spcPct val="100000"/>
              </a:lnSpc>
              <a:spcBef>
                <a:spcPts val="105"/>
              </a:spcBef>
            </a:pPr>
            <a:r>
              <a:rPr lang="en-US" sz="2400" b="0" dirty="0">
                <a:latin typeface="Arial" panose="020B0604020202020204" pitchFamily="34" charset="0"/>
                <a:cs typeface="Arial" panose="020B0604020202020204" pitchFamily="34" charset="0"/>
              </a:rPr>
              <a:t>Modern e-commerce websites often lack intelligent customer interaction and efficient admin management tools. Users face delays in getting answers to common queries, while admins struggle to manage products, orders, and customers efficiently. There's a need for a scalable, secure, and intelligent e-commerce system that supports both seamless shopping for users and efficient control for admins. Integrating a machine learning chatbot can solve user queries instantly, boosting engagement and satisfaction</a:t>
            </a:r>
            <a:r>
              <a:rPr lang="en-US" sz="2400" b="0" dirty="0"/>
              <a:t>.</a:t>
            </a:r>
            <a:endParaRPr sz="2400" b="0" i="0" spc="-10" dirty="0">
              <a:latin typeface="Calibri"/>
              <a:cs typeface="Calibri"/>
            </a:endParaRPr>
          </a:p>
        </p:txBody>
      </p:sp>
      <p:pic>
        <p:nvPicPr>
          <p:cNvPr id="4" name="object 4"/>
          <p:cNvPicPr/>
          <p:nvPr/>
        </p:nvPicPr>
        <p:blipFill>
          <a:blip r:embed="rId2" cstate="print"/>
          <a:stretch>
            <a:fillRect/>
          </a:stretch>
        </p:blipFill>
        <p:spPr>
          <a:xfrm>
            <a:off x="50178" y="68821"/>
            <a:ext cx="1729472" cy="11503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79651" y="0"/>
            <a:ext cx="10412349" cy="1325626"/>
          </a:xfrm>
          <a:prstGeom prst="rect">
            <a:avLst/>
          </a:prstGeom>
        </p:spPr>
      </p:pic>
      <p:sp>
        <p:nvSpPr>
          <p:cNvPr id="3" name="object 3"/>
          <p:cNvSpPr txBox="1">
            <a:spLocks noGrp="1"/>
          </p:cNvSpPr>
          <p:nvPr>
            <p:ph type="title"/>
          </p:nvPr>
        </p:nvSpPr>
        <p:spPr>
          <a:prstGeom prst="rect">
            <a:avLst/>
          </a:prstGeom>
        </p:spPr>
        <p:txBody>
          <a:bodyPr vert="horz" wrap="square" lIns="0" tIns="12065" rIns="0" bIns="0" rtlCol="0">
            <a:spAutoFit/>
          </a:bodyPr>
          <a:lstStyle/>
          <a:p>
            <a:pPr marL="2065020">
              <a:lnSpc>
                <a:spcPct val="100000"/>
              </a:lnSpc>
              <a:spcBef>
                <a:spcPts val="95"/>
              </a:spcBef>
            </a:pPr>
            <a:r>
              <a:rPr sz="4000" dirty="0"/>
              <a:t>FLOW</a:t>
            </a:r>
            <a:r>
              <a:rPr sz="4000" spc="-145" dirty="0"/>
              <a:t> </a:t>
            </a:r>
            <a:r>
              <a:rPr sz="4000" spc="-35" dirty="0"/>
              <a:t>OF</a:t>
            </a:r>
            <a:r>
              <a:rPr sz="4000" spc="-225" dirty="0"/>
              <a:t> </a:t>
            </a:r>
            <a:r>
              <a:rPr sz="4000" dirty="0"/>
              <a:t>THE</a:t>
            </a:r>
            <a:r>
              <a:rPr sz="4000" spc="-35" dirty="0"/>
              <a:t> </a:t>
            </a:r>
            <a:r>
              <a:rPr sz="4000" spc="-10" dirty="0"/>
              <a:t>PROJECT</a:t>
            </a:r>
            <a:endParaRPr sz="4000"/>
          </a:p>
        </p:txBody>
      </p:sp>
      <p:pic>
        <p:nvPicPr>
          <p:cNvPr id="4" name="object 4"/>
          <p:cNvPicPr/>
          <p:nvPr/>
        </p:nvPicPr>
        <p:blipFill>
          <a:blip r:embed="rId3" cstate="print"/>
          <a:stretch>
            <a:fillRect/>
          </a:stretch>
        </p:blipFill>
        <p:spPr>
          <a:xfrm>
            <a:off x="50178" y="68821"/>
            <a:ext cx="1729472" cy="1150378"/>
          </a:xfrm>
          <a:prstGeom prst="rect">
            <a:avLst/>
          </a:prstGeom>
        </p:spPr>
      </p:pic>
      <p:pic>
        <p:nvPicPr>
          <p:cNvPr id="7" name="Picture 6">
            <a:extLst>
              <a:ext uri="{FF2B5EF4-FFF2-40B4-BE49-F238E27FC236}">
                <a16:creationId xmlns:a16="http://schemas.microsoft.com/office/drawing/2014/main" id="{7D2A567C-2F3D-9C9B-3420-55BA2C1040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9650" y="1505203"/>
            <a:ext cx="8507350" cy="52463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79651" y="0"/>
            <a:ext cx="10412349" cy="1325626"/>
          </a:xfrm>
          <a:prstGeom prst="rect">
            <a:avLst/>
          </a:prstGeom>
        </p:spPr>
      </p:pic>
      <p:sp>
        <p:nvSpPr>
          <p:cNvPr id="3" name="object 3"/>
          <p:cNvSpPr txBox="1">
            <a:spLocks noGrp="1"/>
          </p:cNvSpPr>
          <p:nvPr>
            <p:ph type="title"/>
          </p:nvPr>
        </p:nvSpPr>
        <p:spPr>
          <a:prstGeom prst="rect">
            <a:avLst/>
          </a:prstGeom>
        </p:spPr>
        <p:txBody>
          <a:bodyPr vert="horz" wrap="square" lIns="0" tIns="12065" rIns="0" bIns="0" rtlCol="0">
            <a:spAutoFit/>
          </a:bodyPr>
          <a:lstStyle/>
          <a:p>
            <a:pPr marL="2507615">
              <a:lnSpc>
                <a:spcPct val="100000"/>
              </a:lnSpc>
              <a:spcBef>
                <a:spcPts val="95"/>
              </a:spcBef>
            </a:pPr>
            <a:r>
              <a:rPr sz="4000" spc="-25" dirty="0"/>
              <a:t>TECHNOLOGY</a:t>
            </a:r>
            <a:r>
              <a:rPr sz="4000" spc="-185" dirty="0"/>
              <a:t> </a:t>
            </a:r>
            <a:r>
              <a:rPr sz="4000" spc="-20" dirty="0"/>
              <a:t>USED</a:t>
            </a:r>
            <a:endParaRPr sz="4000"/>
          </a:p>
        </p:txBody>
      </p:sp>
      <p:pic>
        <p:nvPicPr>
          <p:cNvPr id="4" name="object 4"/>
          <p:cNvPicPr/>
          <p:nvPr/>
        </p:nvPicPr>
        <p:blipFill>
          <a:blip r:embed="rId3" cstate="print"/>
          <a:stretch>
            <a:fillRect/>
          </a:stretch>
        </p:blipFill>
        <p:spPr>
          <a:xfrm>
            <a:off x="50178" y="68821"/>
            <a:ext cx="1729472" cy="1150378"/>
          </a:xfrm>
          <a:prstGeom prst="rect">
            <a:avLst/>
          </a:prstGeom>
        </p:spPr>
      </p:pic>
      <p:sp>
        <p:nvSpPr>
          <p:cNvPr id="9" name="TextBox 8">
            <a:extLst>
              <a:ext uri="{FF2B5EF4-FFF2-40B4-BE49-F238E27FC236}">
                <a16:creationId xmlns:a16="http://schemas.microsoft.com/office/drawing/2014/main" id="{A9040D11-C5EA-88FD-011D-77A247ECB7FA}"/>
              </a:ext>
            </a:extLst>
          </p:cNvPr>
          <p:cNvSpPr txBox="1"/>
          <p:nvPr/>
        </p:nvSpPr>
        <p:spPr>
          <a:xfrm>
            <a:off x="1066800" y="1798573"/>
            <a:ext cx="10412349" cy="4267200"/>
          </a:xfrm>
          <a:prstGeom prst="rect">
            <a:avLst/>
          </a:prstGeom>
          <a:noFill/>
        </p:spPr>
        <p:txBody>
          <a:bodyPr wrap="square" rtlCol="0">
            <a:spAutoFit/>
          </a:bodyPr>
          <a:lstStyle/>
          <a:p>
            <a:endParaRPr lang="en-IN" dirty="0"/>
          </a:p>
        </p:txBody>
      </p:sp>
      <p:sp>
        <p:nvSpPr>
          <p:cNvPr id="11" name="TextBox 10">
            <a:extLst>
              <a:ext uri="{FF2B5EF4-FFF2-40B4-BE49-F238E27FC236}">
                <a16:creationId xmlns:a16="http://schemas.microsoft.com/office/drawing/2014/main" id="{23EB62B3-7F1E-77E7-5912-30C87B7C72B7}"/>
              </a:ext>
            </a:extLst>
          </p:cNvPr>
          <p:cNvSpPr txBox="1"/>
          <p:nvPr/>
        </p:nvSpPr>
        <p:spPr>
          <a:xfrm>
            <a:off x="1219200" y="1950973"/>
            <a:ext cx="10412349" cy="1754326"/>
          </a:xfrm>
          <a:prstGeom prst="rect">
            <a:avLst/>
          </a:prstGeom>
          <a:noFill/>
        </p:spPr>
        <p:txBody>
          <a:bodyPr wrap="square" rtlCol="0">
            <a:spAutoFit/>
          </a:bodyPr>
          <a:lstStyle/>
          <a:p>
            <a:pPr marL="285750" indent="-285750">
              <a:buFont typeface="Arial" panose="020B0604020202020204" pitchFamily="34" charset="0"/>
              <a:buChar char="•"/>
            </a:pPr>
            <a:r>
              <a:rPr lang="en-US" dirty="0"/>
              <a:t>Frontend :React JS/Tailwind CSS for responsive UI.</a:t>
            </a:r>
          </a:p>
          <a:p>
            <a:pPr marL="285750" indent="-285750">
              <a:buFont typeface="Arial" panose="020B0604020202020204" pitchFamily="34" charset="0"/>
              <a:buChar char="•"/>
            </a:pPr>
            <a:r>
              <a:rPr lang="en-IN" dirty="0" err="1"/>
              <a:t>Backend:Node.js+Express</a:t>
            </a:r>
            <a:r>
              <a:rPr lang="en-IN" dirty="0"/>
              <a:t> for API development</a:t>
            </a:r>
          </a:p>
          <a:p>
            <a:pPr marL="285750" indent="-285750">
              <a:buFont typeface="Arial" panose="020B0604020202020204" pitchFamily="34" charset="0"/>
              <a:buChar char="•"/>
            </a:pPr>
            <a:r>
              <a:rPr lang="en-IN" dirty="0" err="1"/>
              <a:t>Database:MongoDB</a:t>
            </a:r>
            <a:r>
              <a:rPr lang="en-IN" dirty="0"/>
              <a:t> for mongoose for data storage</a:t>
            </a:r>
          </a:p>
          <a:p>
            <a:pPr marL="285750" indent="-285750">
              <a:buFont typeface="Arial" panose="020B0604020202020204" pitchFamily="34" charset="0"/>
              <a:buChar char="•"/>
            </a:pPr>
            <a:r>
              <a:rPr lang="en-IN" dirty="0" err="1"/>
              <a:t>Authentication:JWT</a:t>
            </a:r>
            <a:r>
              <a:rPr lang="en-IN" dirty="0"/>
              <a:t>(JSON WEB TOKEN)</a:t>
            </a:r>
          </a:p>
          <a:p>
            <a:pPr marL="285750" indent="-285750">
              <a:buFont typeface="Arial" panose="020B0604020202020204" pitchFamily="34" charset="0"/>
              <a:buChar char="•"/>
            </a:pPr>
            <a:r>
              <a:rPr lang="en-IN" dirty="0" err="1"/>
              <a:t>Ml</a:t>
            </a:r>
            <a:r>
              <a:rPr lang="en-IN" dirty="0"/>
              <a:t> </a:t>
            </a:r>
            <a:r>
              <a:rPr lang="en-IN" dirty="0" err="1"/>
              <a:t>Chatbot:Trained</a:t>
            </a:r>
            <a:r>
              <a:rPr lang="en-IN" dirty="0"/>
              <a:t> with NLP using Python</a:t>
            </a:r>
          </a:p>
          <a:p>
            <a:pPr marL="285750" indent="-285750">
              <a:buFont typeface="Arial" panose="020B0604020202020204" pitchFamily="34" charset="0"/>
              <a:buChar char="•"/>
            </a:pPr>
            <a:r>
              <a:rPr lang="en-IN" dirty="0" err="1"/>
              <a:t>Deployment:Hosted</a:t>
            </a:r>
            <a:r>
              <a:rPr lang="en-IN" dirty="0"/>
              <a:t> using platforms like </a:t>
            </a:r>
            <a:r>
              <a:rPr lang="en-IN" dirty="0" err="1"/>
              <a:t>Vercel</a:t>
            </a:r>
            <a:r>
              <a:rPr lang="en-IN" dirty="0"/>
              <a:t>/Netlify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0554" y="286004"/>
            <a:ext cx="10166985" cy="578234"/>
          </a:xfrm>
          <a:prstGeom prst="rect">
            <a:avLst/>
          </a:prstGeom>
        </p:spPr>
        <p:txBody>
          <a:bodyPr vert="horz" wrap="square" lIns="0" tIns="84962" rIns="0" bIns="0" rtlCol="0">
            <a:spAutoFit/>
          </a:bodyPr>
          <a:lstStyle/>
          <a:p>
            <a:pPr marL="2159000">
              <a:lnSpc>
                <a:spcPct val="100000"/>
              </a:lnSpc>
              <a:spcBef>
                <a:spcPts val="105"/>
              </a:spcBef>
            </a:pPr>
            <a:r>
              <a:rPr lang="en-US" spc="-40" dirty="0"/>
              <a:t>FEATURES</a:t>
            </a:r>
            <a:r>
              <a:rPr spc="-40" dirty="0"/>
              <a:t> </a:t>
            </a:r>
            <a:r>
              <a:rPr dirty="0"/>
              <a:t>OF</a:t>
            </a:r>
            <a:r>
              <a:rPr spc="-190" dirty="0"/>
              <a:t> </a:t>
            </a:r>
            <a:r>
              <a:rPr dirty="0"/>
              <a:t>THE </a:t>
            </a:r>
            <a:r>
              <a:rPr spc="-10" dirty="0"/>
              <a:t>PROJECT</a:t>
            </a:r>
          </a:p>
        </p:txBody>
      </p:sp>
      <p:pic>
        <p:nvPicPr>
          <p:cNvPr id="3" name="object 3"/>
          <p:cNvPicPr/>
          <p:nvPr/>
        </p:nvPicPr>
        <p:blipFill>
          <a:blip r:embed="rId2" cstate="print"/>
          <a:stretch>
            <a:fillRect/>
          </a:stretch>
        </p:blipFill>
        <p:spPr>
          <a:xfrm>
            <a:off x="52394" y="68821"/>
            <a:ext cx="1805869" cy="1150378"/>
          </a:xfrm>
          <a:prstGeom prst="rect">
            <a:avLst/>
          </a:prstGeom>
        </p:spPr>
      </p:pic>
      <p:sp>
        <p:nvSpPr>
          <p:cNvPr id="7" name="TextBox 6">
            <a:extLst>
              <a:ext uri="{FF2B5EF4-FFF2-40B4-BE49-F238E27FC236}">
                <a16:creationId xmlns:a16="http://schemas.microsoft.com/office/drawing/2014/main" id="{DF6B208E-550F-AE66-C130-7BC4CC62FB64}"/>
              </a:ext>
            </a:extLst>
          </p:cNvPr>
          <p:cNvSpPr txBox="1"/>
          <p:nvPr/>
        </p:nvSpPr>
        <p:spPr>
          <a:xfrm>
            <a:off x="381000" y="1676400"/>
            <a:ext cx="5638800" cy="3416320"/>
          </a:xfrm>
          <a:prstGeom prst="rect">
            <a:avLst/>
          </a:prstGeom>
          <a:noFill/>
        </p:spPr>
        <p:txBody>
          <a:bodyPr wrap="square" rtlCol="0">
            <a:spAutoFit/>
          </a:bodyPr>
          <a:lstStyle/>
          <a:p>
            <a:r>
              <a:rPr lang="en-IN" b="1" dirty="0"/>
              <a:t>👤 User Features</a:t>
            </a:r>
          </a:p>
          <a:p>
            <a:pPr>
              <a:buFont typeface="Arial" panose="020B0604020202020204" pitchFamily="34" charset="0"/>
              <a:buChar char="•"/>
            </a:pPr>
            <a:r>
              <a:rPr lang="en-IN" dirty="0"/>
              <a:t>✅ </a:t>
            </a:r>
            <a:r>
              <a:rPr lang="en-IN" b="1" dirty="0"/>
              <a:t>User Registration and Login</a:t>
            </a:r>
            <a:r>
              <a:rPr lang="en-IN" dirty="0"/>
              <a:t> (with JWT Authentication)</a:t>
            </a:r>
          </a:p>
          <a:p>
            <a:pPr>
              <a:buFont typeface="Arial" panose="020B0604020202020204" pitchFamily="34" charset="0"/>
              <a:buChar char="•"/>
            </a:pPr>
            <a:r>
              <a:rPr lang="en-IN" dirty="0"/>
              <a:t>🛍️ </a:t>
            </a:r>
            <a:r>
              <a:rPr lang="en-IN" b="1" dirty="0"/>
              <a:t>Browse Products by Category or Search</a:t>
            </a:r>
            <a:endParaRPr lang="en-IN" dirty="0"/>
          </a:p>
          <a:p>
            <a:pPr>
              <a:buFont typeface="Arial" panose="020B0604020202020204" pitchFamily="34" charset="0"/>
              <a:buChar char="•"/>
            </a:pPr>
            <a:r>
              <a:rPr lang="en-IN" dirty="0"/>
              <a:t>➕ </a:t>
            </a:r>
            <a:r>
              <a:rPr lang="en-IN" b="1" dirty="0"/>
              <a:t>Add to Cart / Remove from Cart</a:t>
            </a:r>
            <a:endParaRPr lang="en-IN" dirty="0"/>
          </a:p>
          <a:p>
            <a:pPr>
              <a:buFont typeface="Arial" panose="020B0604020202020204" pitchFamily="34" charset="0"/>
              <a:buChar char="•"/>
            </a:pPr>
            <a:r>
              <a:rPr lang="en-IN" dirty="0"/>
              <a:t>📦 </a:t>
            </a:r>
            <a:r>
              <a:rPr lang="en-IN" b="1" dirty="0"/>
              <a:t>Place Orders with Order History Tracking</a:t>
            </a:r>
            <a:endParaRPr lang="en-IN" dirty="0"/>
          </a:p>
          <a:p>
            <a:pPr>
              <a:buFont typeface="Arial" panose="020B0604020202020204" pitchFamily="34" charset="0"/>
              <a:buChar char="•"/>
            </a:pPr>
            <a:r>
              <a:rPr lang="en-IN" dirty="0"/>
              <a:t>🤖 </a:t>
            </a:r>
            <a:r>
              <a:rPr lang="en-IN" b="1" dirty="0"/>
              <a:t>Chat with ML Chatbot for Help</a:t>
            </a:r>
            <a:r>
              <a:rPr lang="en-IN" dirty="0"/>
              <a:t> (e.g., order status, return policy)</a:t>
            </a:r>
          </a:p>
          <a:p>
            <a:pPr>
              <a:buFont typeface="Arial" panose="020B0604020202020204" pitchFamily="34" charset="0"/>
              <a:buChar char="•"/>
            </a:pPr>
            <a:r>
              <a:rPr lang="en-IN" dirty="0"/>
              <a:t>✍️ </a:t>
            </a:r>
            <a:r>
              <a:rPr lang="en-IN" b="1" dirty="0"/>
              <a:t>View and Update Profile Information</a:t>
            </a:r>
            <a:endParaRPr lang="en-IN" dirty="0"/>
          </a:p>
          <a:p>
            <a:pPr>
              <a:buFont typeface="Arial" panose="020B0604020202020204" pitchFamily="34" charset="0"/>
              <a:buChar char="•"/>
            </a:pPr>
            <a:r>
              <a:rPr lang="en-IN" dirty="0"/>
              <a:t>🔒 </a:t>
            </a:r>
            <a:r>
              <a:rPr lang="en-IN" b="1" dirty="0"/>
              <a:t>Secure Checkout Process</a:t>
            </a:r>
            <a:endParaRPr lang="en-IN" dirty="0"/>
          </a:p>
          <a:p>
            <a:pPr>
              <a:buFont typeface="Arial" panose="020B0604020202020204" pitchFamily="34" charset="0"/>
              <a:buChar char="•"/>
            </a:pPr>
            <a:r>
              <a:rPr lang="en-IN" dirty="0"/>
              <a:t>📧 </a:t>
            </a:r>
            <a:r>
              <a:rPr lang="en-IN" b="1" dirty="0"/>
              <a:t>Get Email Confirmations on Orders</a:t>
            </a:r>
            <a:endParaRPr lang="en-IN" dirty="0"/>
          </a:p>
          <a:p>
            <a:endParaRPr lang="en-IN" dirty="0"/>
          </a:p>
        </p:txBody>
      </p:sp>
      <p:sp>
        <p:nvSpPr>
          <p:cNvPr id="8" name="TextBox 7">
            <a:extLst>
              <a:ext uri="{FF2B5EF4-FFF2-40B4-BE49-F238E27FC236}">
                <a16:creationId xmlns:a16="http://schemas.microsoft.com/office/drawing/2014/main" id="{3AA05DC2-5ACB-2C60-697C-C707D85E6B70}"/>
              </a:ext>
            </a:extLst>
          </p:cNvPr>
          <p:cNvSpPr txBox="1"/>
          <p:nvPr/>
        </p:nvSpPr>
        <p:spPr>
          <a:xfrm>
            <a:off x="6553200" y="1752600"/>
            <a:ext cx="5257800" cy="3124200"/>
          </a:xfrm>
          <a:prstGeom prst="rect">
            <a:avLst/>
          </a:prstGeom>
          <a:noFill/>
        </p:spPr>
        <p:txBody>
          <a:bodyPr wrap="square" rtlCol="0">
            <a:spAutoFit/>
          </a:bodyPr>
          <a:lstStyle/>
          <a:p>
            <a:pPr>
              <a:buNone/>
            </a:pPr>
            <a:r>
              <a:rPr lang="en-IN" b="1" dirty="0"/>
              <a:t>🛠️ Admin Features</a:t>
            </a:r>
          </a:p>
          <a:p>
            <a:pPr>
              <a:buFont typeface="Arial" panose="020B0604020202020204" pitchFamily="34" charset="0"/>
              <a:buChar char="•"/>
            </a:pPr>
            <a:r>
              <a:rPr lang="en-IN" dirty="0"/>
              <a:t>🔐 </a:t>
            </a:r>
            <a:r>
              <a:rPr lang="en-IN" b="1" dirty="0"/>
              <a:t>Admin Login with Role-Based Access</a:t>
            </a:r>
            <a:endParaRPr lang="en-IN" dirty="0"/>
          </a:p>
          <a:p>
            <a:pPr>
              <a:buFont typeface="Arial" panose="020B0604020202020204" pitchFamily="34" charset="0"/>
              <a:buChar char="•"/>
            </a:pPr>
            <a:r>
              <a:rPr lang="en-IN" dirty="0"/>
              <a:t>🧾 </a:t>
            </a:r>
            <a:r>
              <a:rPr lang="en-IN" b="1" dirty="0"/>
              <a:t>Add, Update, or Delete Products</a:t>
            </a:r>
            <a:endParaRPr lang="en-IN" dirty="0"/>
          </a:p>
          <a:p>
            <a:pPr>
              <a:buFont typeface="Arial" panose="020B0604020202020204" pitchFamily="34" charset="0"/>
              <a:buChar char="•"/>
            </a:pPr>
            <a:r>
              <a:rPr lang="en-IN" dirty="0"/>
              <a:t>📋 </a:t>
            </a:r>
            <a:r>
              <a:rPr lang="en-IN" b="1" dirty="0"/>
              <a:t>View and Manage All Orders</a:t>
            </a:r>
            <a:endParaRPr lang="en-IN" dirty="0"/>
          </a:p>
          <a:p>
            <a:pPr>
              <a:buFont typeface="Arial" panose="020B0604020202020204" pitchFamily="34" charset="0"/>
              <a:buChar char="•"/>
            </a:pPr>
            <a:r>
              <a:rPr lang="en-IN" dirty="0"/>
              <a:t>👥 </a:t>
            </a:r>
            <a:r>
              <a:rPr lang="en-IN" b="1" dirty="0"/>
              <a:t>Manage Users (View/Delete)</a:t>
            </a:r>
            <a:endParaRPr lang="en-IN" dirty="0"/>
          </a:p>
          <a:p>
            <a:pPr>
              <a:buFont typeface="Arial" panose="020B0604020202020204" pitchFamily="34" charset="0"/>
              <a:buChar char="•"/>
            </a:pPr>
            <a:r>
              <a:rPr lang="en-IN" dirty="0"/>
              <a:t>📈 </a:t>
            </a:r>
            <a:r>
              <a:rPr lang="en-IN" b="1" dirty="0"/>
              <a:t>Dashboard with Summary of Orders, Users, and Products</a:t>
            </a:r>
            <a:endParaRPr lang="en-IN" dirty="0"/>
          </a:p>
          <a:p>
            <a:pPr>
              <a:buFont typeface="Arial" panose="020B0604020202020204" pitchFamily="34" charset="0"/>
              <a:buChar char="•"/>
            </a:pPr>
            <a:r>
              <a:rPr lang="en-IN" dirty="0"/>
              <a:t>🗂️ </a:t>
            </a:r>
            <a:r>
              <a:rPr lang="en-IN" b="1" dirty="0"/>
              <a:t>Manage Product Categories</a:t>
            </a:r>
            <a:endParaRPr lang="en-IN" dirty="0"/>
          </a:p>
          <a:p>
            <a:pPr>
              <a:buFont typeface="Arial" panose="020B0604020202020204" pitchFamily="34" charset="0"/>
              <a:buChar char="•"/>
            </a:pPr>
            <a:r>
              <a:rPr lang="en-IN" dirty="0"/>
              <a:t>🤖 </a:t>
            </a:r>
            <a:r>
              <a:rPr lang="en-IN" b="1" dirty="0"/>
              <a:t>Monitor Chatbot Interactions</a:t>
            </a:r>
            <a:r>
              <a:rPr lang="en-IN" dirty="0"/>
              <a:t> (optional analytics for future)</a:t>
            </a: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4962" rIns="0" bIns="0" rtlCol="0">
            <a:spAutoFit/>
          </a:bodyPr>
          <a:lstStyle/>
          <a:p>
            <a:pPr marL="2159000">
              <a:lnSpc>
                <a:spcPct val="100000"/>
              </a:lnSpc>
              <a:spcBef>
                <a:spcPts val="105"/>
              </a:spcBef>
            </a:pPr>
            <a:r>
              <a:rPr dirty="0"/>
              <a:t>SNAPSHOTS</a:t>
            </a:r>
            <a:r>
              <a:rPr spc="-40" dirty="0"/>
              <a:t> </a:t>
            </a:r>
            <a:r>
              <a:rPr dirty="0"/>
              <a:t>OF</a:t>
            </a:r>
            <a:r>
              <a:rPr spc="-190" dirty="0"/>
              <a:t> </a:t>
            </a:r>
            <a:r>
              <a:rPr dirty="0"/>
              <a:t>THE </a:t>
            </a:r>
            <a:r>
              <a:rPr spc="-10" dirty="0"/>
              <a:t>PROJECT</a:t>
            </a:r>
          </a:p>
        </p:txBody>
      </p:sp>
      <p:pic>
        <p:nvPicPr>
          <p:cNvPr id="3" name="object 3"/>
          <p:cNvPicPr/>
          <p:nvPr/>
        </p:nvPicPr>
        <p:blipFill>
          <a:blip r:embed="rId2" cstate="print"/>
          <a:stretch>
            <a:fillRect/>
          </a:stretch>
        </p:blipFill>
        <p:spPr>
          <a:xfrm>
            <a:off x="52394" y="68821"/>
            <a:ext cx="1805869" cy="1150378"/>
          </a:xfrm>
          <a:prstGeom prst="rect">
            <a:avLst/>
          </a:prstGeom>
        </p:spPr>
      </p:pic>
      <p:pic>
        <p:nvPicPr>
          <p:cNvPr id="23" name="Picture 22">
            <a:extLst>
              <a:ext uri="{FF2B5EF4-FFF2-40B4-BE49-F238E27FC236}">
                <a16:creationId xmlns:a16="http://schemas.microsoft.com/office/drawing/2014/main" id="{3C52B3C8-3484-886B-ADEF-DA920BEC10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1905000"/>
            <a:ext cx="4800600" cy="3733800"/>
          </a:xfrm>
          <a:prstGeom prst="rect">
            <a:avLst/>
          </a:prstGeom>
        </p:spPr>
      </p:pic>
      <p:pic>
        <p:nvPicPr>
          <p:cNvPr id="25" name="Picture 24">
            <a:extLst>
              <a:ext uri="{FF2B5EF4-FFF2-40B4-BE49-F238E27FC236}">
                <a16:creationId xmlns:a16="http://schemas.microsoft.com/office/drawing/2014/main" id="{80888E91-63C6-A159-C3BE-3C9FEE71002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0" y="1905000"/>
            <a:ext cx="5290631" cy="3733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4962" rIns="0" bIns="0" rtlCol="0">
            <a:spAutoFit/>
          </a:bodyPr>
          <a:lstStyle/>
          <a:p>
            <a:pPr marL="2159000">
              <a:lnSpc>
                <a:spcPct val="100000"/>
              </a:lnSpc>
              <a:spcBef>
                <a:spcPts val="105"/>
              </a:spcBef>
            </a:pPr>
            <a:r>
              <a:rPr dirty="0"/>
              <a:t>SNAPSHOTS</a:t>
            </a:r>
            <a:r>
              <a:rPr spc="-40" dirty="0"/>
              <a:t> </a:t>
            </a:r>
            <a:r>
              <a:rPr dirty="0"/>
              <a:t>OF</a:t>
            </a:r>
            <a:r>
              <a:rPr spc="-190" dirty="0"/>
              <a:t> </a:t>
            </a:r>
            <a:r>
              <a:rPr dirty="0"/>
              <a:t>THE </a:t>
            </a:r>
            <a:r>
              <a:rPr spc="-10" dirty="0"/>
              <a:t>PROJECT</a:t>
            </a:r>
          </a:p>
        </p:txBody>
      </p:sp>
      <p:pic>
        <p:nvPicPr>
          <p:cNvPr id="3" name="object 3"/>
          <p:cNvPicPr/>
          <p:nvPr/>
        </p:nvPicPr>
        <p:blipFill>
          <a:blip r:embed="rId2" cstate="print"/>
          <a:stretch>
            <a:fillRect/>
          </a:stretch>
        </p:blipFill>
        <p:spPr>
          <a:xfrm>
            <a:off x="52394" y="68821"/>
            <a:ext cx="1805869" cy="1150378"/>
          </a:xfrm>
          <a:prstGeom prst="rect">
            <a:avLst/>
          </a:prstGeom>
        </p:spPr>
      </p:pic>
      <p:pic>
        <p:nvPicPr>
          <p:cNvPr id="7" name="Picture 6">
            <a:extLst>
              <a:ext uri="{FF2B5EF4-FFF2-40B4-BE49-F238E27FC236}">
                <a16:creationId xmlns:a16="http://schemas.microsoft.com/office/drawing/2014/main" id="{47FFC49D-D1D7-5D4E-02CA-EA14B9DE40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400" y="1905000"/>
            <a:ext cx="5340943" cy="3581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4962" rIns="0" bIns="0" rtlCol="0">
            <a:spAutoFit/>
          </a:bodyPr>
          <a:lstStyle/>
          <a:p>
            <a:pPr marL="2523490">
              <a:lnSpc>
                <a:spcPct val="100000"/>
              </a:lnSpc>
              <a:spcBef>
                <a:spcPts val="105"/>
              </a:spcBef>
            </a:pPr>
            <a:r>
              <a:rPr dirty="0"/>
              <a:t>OUTPUT</a:t>
            </a:r>
            <a:r>
              <a:rPr spc="-80" dirty="0"/>
              <a:t> </a:t>
            </a:r>
            <a:r>
              <a:rPr dirty="0"/>
              <a:t>OF</a:t>
            </a:r>
            <a:r>
              <a:rPr spc="-190" dirty="0"/>
              <a:t> </a:t>
            </a:r>
            <a:r>
              <a:rPr dirty="0"/>
              <a:t>THE </a:t>
            </a:r>
            <a:r>
              <a:rPr spc="-10" dirty="0"/>
              <a:t>PROJECT</a:t>
            </a:r>
          </a:p>
        </p:txBody>
      </p:sp>
      <p:pic>
        <p:nvPicPr>
          <p:cNvPr id="3" name="object 3"/>
          <p:cNvPicPr/>
          <p:nvPr/>
        </p:nvPicPr>
        <p:blipFill>
          <a:blip r:embed="rId2" cstate="print"/>
          <a:stretch>
            <a:fillRect/>
          </a:stretch>
        </p:blipFill>
        <p:spPr>
          <a:xfrm>
            <a:off x="52394" y="68821"/>
            <a:ext cx="1805869" cy="1150378"/>
          </a:xfrm>
          <a:prstGeom prst="rect">
            <a:avLst/>
          </a:prstGeom>
        </p:spPr>
      </p:pic>
      <p:pic>
        <p:nvPicPr>
          <p:cNvPr id="7" name="Picture 6">
            <a:extLst>
              <a:ext uri="{FF2B5EF4-FFF2-40B4-BE49-F238E27FC236}">
                <a16:creationId xmlns:a16="http://schemas.microsoft.com/office/drawing/2014/main" id="{0EC1C421-1F03-F600-688D-A1255601CD2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000" y="2323591"/>
            <a:ext cx="4876800" cy="3429000"/>
          </a:xfrm>
          <a:prstGeom prst="rect">
            <a:avLst/>
          </a:prstGeom>
        </p:spPr>
      </p:pic>
      <p:pic>
        <p:nvPicPr>
          <p:cNvPr id="10" name="Picture 9">
            <a:extLst>
              <a:ext uri="{FF2B5EF4-FFF2-40B4-BE49-F238E27FC236}">
                <a16:creationId xmlns:a16="http://schemas.microsoft.com/office/drawing/2014/main" id="{1E9B0D37-FE03-970E-D838-B54971AB3C2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24600" y="2288953"/>
            <a:ext cx="5181600" cy="319744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0554" y="286004"/>
            <a:ext cx="10166985" cy="578234"/>
          </a:xfrm>
          <a:prstGeom prst="rect">
            <a:avLst/>
          </a:prstGeom>
        </p:spPr>
        <p:txBody>
          <a:bodyPr vert="horz" wrap="square" lIns="0" tIns="84962" rIns="0" bIns="0" rtlCol="0">
            <a:spAutoFit/>
          </a:bodyPr>
          <a:lstStyle/>
          <a:p>
            <a:pPr marL="3948429">
              <a:lnSpc>
                <a:spcPct val="100000"/>
              </a:lnSpc>
              <a:spcBef>
                <a:spcPts val="105"/>
              </a:spcBef>
            </a:pPr>
            <a:r>
              <a:rPr lang="en-US" spc="-10" dirty="0"/>
              <a:t>OUTPUT OF THE PROJECT</a:t>
            </a:r>
            <a:endParaRPr spc="-10" dirty="0"/>
          </a:p>
        </p:txBody>
      </p:sp>
      <p:pic>
        <p:nvPicPr>
          <p:cNvPr id="3" name="object 3"/>
          <p:cNvPicPr/>
          <p:nvPr/>
        </p:nvPicPr>
        <p:blipFill>
          <a:blip r:embed="rId2" cstate="print"/>
          <a:stretch>
            <a:fillRect/>
          </a:stretch>
        </p:blipFill>
        <p:spPr>
          <a:xfrm>
            <a:off x="52394" y="68821"/>
            <a:ext cx="1805869" cy="1150378"/>
          </a:xfrm>
          <a:prstGeom prst="rect">
            <a:avLst/>
          </a:prstGeom>
        </p:spPr>
      </p:pic>
      <p:pic>
        <p:nvPicPr>
          <p:cNvPr id="9" name="Picture 8">
            <a:extLst>
              <a:ext uri="{FF2B5EF4-FFF2-40B4-BE49-F238E27FC236}">
                <a16:creationId xmlns:a16="http://schemas.microsoft.com/office/drawing/2014/main" id="{DDF30D6C-0BE7-1680-6AD3-8EAA0DF702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 y="2133600"/>
            <a:ext cx="4876800" cy="3581400"/>
          </a:xfrm>
          <a:prstGeom prst="rect">
            <a:avLst/>
          </a:prstGeom>
        </p:spPr>
      </p:pic>
      <p:pic>
        <p:nvPicPr>
          <p:cNvPr id="11" name="Picture 10">
            <a:extLst>
              <a:ext uri="{FF2B5EF4-FFF2-40B4-BE49-F238E27FC236}">
                <a16:creationId xmlns:a16="http://schemas.microsoft.com/office/drawing/2014/main" id="{581CBF08-709F-26CA-08CB-540B8D19B1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53202" y="2133600"/>
            <a:ext cx="5029198" cy="3581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0554" y="286004"/>
            <a:ext cx="10166985" cy="578234"/>
          </a:xfrm>
          <a:prstGeom prst="rect">
            <a:avLst/>
          </a:prstGeom>
        </p:spPr>
        <p:txBody>
          <a:bodyPr vert="horz" wrap="square" lIns="0" tIns="84962" rIns="0" bIns="0" rtlCol="0">
            <a:spAutoFit/>
          </a:bodyPr>
          <a:lstStyle/>
          <a:p>
            <a:pPr marL="2887345">
              <a:lnSpc>
                <a:spcPct val="100000"/>
              </a:lnSpc>
              <a:spcBef>
                <a:spcPts val="105"/>
              </a:spcBef>
            </a:pPr>
            <a:r>
              <a:rPr lang="en-US" spc="-10" dirty="0"/>
              <a:t>FUTURE GOALS</a:t>
            </a:r>
            <a:endParaRPr spc="-10" dirty="0"/>
          </a:p>
        </p:txBody>
      </p:sp>
      <p:pic>
        <p:nvPicPr>
          <p:cNvPr id="3" name="object 3"/>
          <p:cNvPicPr/>
          <p:nvPr/>
        </p:nvPicPr>
        <p:blipFill>
          <a:blip r:embed="rId2" cstate="print"/>
          <a:stretch>
            <a:fillRect/>
          </a:stretch>
        </p:blipFill>
        <p:spPr>
          <a:xfrm>
            <a:off x="52394" y="68821"/>
            <a:ext cx="1805869" cy="1150378"/>
          </a:xfrm>
          <a:prstGeom prst="rect">
            <a:avLst/>
          </a:prstGeom>
        </p:spPr>
      </p:pic>
      <p:sp>
        <p:nvSpPr>
          <p:cNvPr id="6" name="Rectangle 1">
            <a:extLst>
              <a:ext uri="{FF2B5EF4-FFF2-40B4-BE49-F238E27FC236}">
                <a16:creationId xmlns:a16="http://schemas.microsoft.com/office/drawing/2014/main" id="{550A8514-F97D-B50E-9076-BB50B66DDE67}"/>
              </a:ext>
            </a:extLst>
          </p:cNvPr>
          <p:cNvSpPr>
            <a:spLocks noChangeArrowheads="1"/>
          </p:cNvSpPr>
          <p:nvPr/>
        </p:nvSpPr>
        <p:spPr bwMode="auto">
          <a:xfrm>
            <a:off x="533400" y="2025640"/>
            <a:ext cx="639149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Integrate Secure Payment Gateways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(e.g., </a:t>
            </a:r>
            <a:r>
              <a:rPr kumimoji="0" lang="en-US" altLang="en-US" sz="1800" b="0" i="0" u="none" strike="noStrike" cap="none" normalizeH="0" baseline="0" dirty="0" err="1">
                <a:ln>
                  <a:noFill/>
                </a:ln>
                <a:solidFill>
                  <a:schemeClr val="tx1"/>
                </a:solidFill>
                <a:effectLst/>
                <a:latin typeface="Arial" panose="020B0604020202020204" pitchFamily="34" charset="0"/>
              </a:rPr>
              <a:t>Razorpay</a:t>
            </a:r>
            <a:r>
              <a:rPr kumimoji="0" lang="en-US" altLang="en-US" sz="1800" b="0" i="0" u="none" strike="noStrike" cap="none" normalizeH="0" baseline="0" dirty="0">
                <a:ln>
                  <a:noFill/>
                </a:ln>
                <a:solidFill>
                  <a:schemeClr val="tx1"/>
                </a:solidFill>
                <a:effectLst/>
                <a:latin typeface="Arial" panose="020B0604020202020204" pitchFamily="34" charset="0"/>
              </a:rPr>
              <a:t>, Stripe, PayPal)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Enhance ML Chatbot with Deep Learning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(Context-aware responses using LSTM/Transformer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Multi-Language Support in Chatbot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(Improve accessibility for diverse user bases)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Admin Analytics Dashboard</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(Visualize sales, traffic, and user behavior)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Recommendation System</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(ML-based product suggestions based on user behavior)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Order Return &amp; Refund Module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(Add easy return/refund options for users)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0554" y="286004"/>
            <a:ext cx="10166985" cy="578234"/>
          </a:xfrm>
          <a:prstGeom prst="rect">
            <a:avLst/>
          </a:prstGeom>
        </p:spPr>
        <p:txBody>
          <a:bodyPr vert="horz" wrap="square" lIns="0" tIns="84962" rIns="0" bIns="0" rtlCol="0">
            <a:spAutoFit/>
          </a:bodyPr>
          <a:lstStyle/>
          <a:p>
            <a:pPr marL="2159000">
              <a:lnSpc>
                <a:spcPct val="100000"/>
              </a:lnSpc>
              <a:spcBef>
                <a:spcPts val="105"/>
              </a:spcBef>
            </a:pPr>
            <a:r>
              <a:rPr lang="en-US" dirty="0"/>
              <a:t>SCOPE OF THE PROJECT</a:t>
            </a:r>
            <a:endParaRPr spc="-10" dirty="0"/>
          </a:p>
        </p:txBody>
      </p:sp>
      <p:pic>
        <p:nvPicPr>
          <p:cNvPr id="3" name="object 3"/>
          <p:cNvPicPr/>
          <p:nvPr/>
        </p:nvPicPr>
        <p:blipFill>
          <a:blip r:embed="rId2" cstate="print"/>
          <a:stretch>
            <a:fillRect/>
          </a:stretch>
        </p:blipFill>
        <p:spPr>
          <a:xfrm>
            <a:off x="52394" y="68821"/>
            <a:ext cx="1805869" cy="1150378"/>
          </a:xfrm>
          <a:prstGeom prst="rect">
            <a:avLst/>
          </a:prstGeom>
        </p:spPr>
      </p:pic>
      <p:sp>
        <p:nvSpPr>
          <p:cNvPr id="7" name="TextBox 6">
            <a:extLst>
              <a:ext uri="{FF2B5EF4-FFF2-40B4-BE49-F238E27FC236}">
                <a16:creationId xmlns:a16="http://schemas.microsoft.com/office/drawing/2014/main" id="{DD9F110E-9FC1-D613-C5E9-3F8FF30222FD}"/>
              </a:ext>
            </a:extLst>
          </p:cNvPr>
          <p:cNvSpPr txBox="1"/>
          <p:nvPr/>
        </p:nvSpPr>
        <p:spPr>
          <a:xfrm>
            <a:off x="762000" y="1752600"/>
            <a:ext cx="10515600" cy="2031325"/>
          </a:xfrm>
          <a:prstGeom prst="rect">
            <a:avLst/>
          </a:prstGeom>
          <a:noFill/>
        </p:spPr>
        <p:txBody>
          <a:bodyPr wrap="square" rtlCol="0">
            <a:spAutoFit/>
          </a:bodyPr>
          <a:lstStyle/>
          <a:p>
            <a:pPr>
              <a:buFont typeface="Arial" panose="020B0604020202020204" pitchFamily="34" charset="0"/>
              <a:buChar char="•"/>
            </a:pPr>
            <a:r>
              <a:rPr lang="en-US" dirty="0"/>
              <a:t>Can be deployed as a </a:t>
            </a:r>
            <a:r>
              <a:rPr lang="en-US" b="1" dirty="0"/>
              <a:t>commercial e-commerce solution</a:t>
            </a:r>
            <a:r>
              <a:rPr lang="en-US" dirty="0"/>
              <a:t>.</a:t>
            </a:r>
          </a:p>
          <a:p>
            <a:pPr>
              <a:buFont typeface="Arial" panose="020B0604020202020204" pitchFamily="34" charset="0"/>
              <a:buChar char="•"/>
            </a:pPr>
            <a:r>
              <a:rPr lang="en-US" dirty="0"/>
              <a:t>Scalable to handle thousands of products and users.</a:t>
            </a:r>
          </a:p>
          <a:p>
            <a:pPr>
              <a:buFont typeface="Arial" panose="020B0604020202020204" pitchFamily="34" charset="0"/>
              <a:buChar char="•"/>
            </a:pPr>
            <a:r>
              <a:rPr lang="en-US" dirty="0"/>
              <a:t>Can serve as a </a:t>
            </a:r>
            <a:r>
              <a:rPr lang="en-US" b="1" dirty="0"/>
              <a:t>foundation for startups or businesses</a:t>
            </a:r>
            <a:r>
              <a:rPr lang="en-US" dirty="0"/>
              <a:t>.</a:t>
            </a:r>
          </a:p>
          <a:p>
            <a:pPr>
              <a:buFont typeface="Arial" panose="020B0604020202020204" pitchFamily="34" charset="0"/>
              <a:buChar char="•"/>
            </a:pPr>
            <a:r>
              <a:rPr lang="en-US" dirty="0"/>
              <a:t>Extendable to other domains: </a:t>
            </a:r>
            <a:r>
              <a:rPr lang="en-US" b="1" dirty="0"/>
              <a:t>grocery, electronics, fashion, books</a:t>
            </a:r>
            <a:r>
              <a:rPr lang="en-US" dirty="0"/>
              <a:t>, etc.</a:t>
            </a:r>
          </a:p>
          <a:p>
            <a:pPr>
              <a:buFont typeface="Arial" panose="020B0604020202020204" pitchFamily="34" charset="0"/>
              <a:buChar char="•"/>
            </a:pPr>
            <a:r>
              <a:rPr lang="en-US" dirty="0"/>
              <a:t>Offers a blend of </a:t>
            </a:r>
            <a:r>
              <a:rPr lang="en-US" b="1" dirty="0"/>
              <a:t>AI-driven interaction and full-stack architecture</a:t>
            </a:r>
            <a:r>
              <a:rPr lang="en-US" dirty="0"/>
              <a:t>, suitable for </a:t>
            </a:r>
            <a:r>
              <a:rPr lang="en-US" b="1" dirty="0"/>
              <a:t>academic, professional, or enterprise projects</a:t>
            </a:r>
            <a:r>
              <a:rPr lang="en-US" dirty="0"/>
              <a:t>.</a:t>
            </a:r>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46782" y="0"/>
            <a:ext cx="10245217" cy="1325626"/>
          </a:xfrm>
          <a:prstGeom prst="rect">
            <a:avLst/>
          </a:prstGeom>
        </p:spPr>
      </p:pic>
      <p:sp>
        <p:nvSpPr>
          <p:cNvPr id="3" name="object 3"/>
          <p:cNvSpPr txBox="1">
            <a:spLocks noGrp="1"/>
          </p:cNvSpPr>
          <p:nvPr>
            <p:ph type="title"/>
          </p:nvPr>
        </p:nvSpPr>
        <p:spPr>
          <a:prstGeom prst="rect">
            <a:avLst/>
          </a:prstGeom>
        </p:spPr>
        <p:txBody>
          <a:bodyPr vert="horz" wrap="square" lIns="0" tIns="84962" rIns="0" bIns="0" rtlCol="0">
            <a:spAutoFit/>
          </a:bodyPr>
          <a:lstStyle/>
          <a:p>
            <a:pPr marL="3800475">
              <a:lnSpc>
                <a:spcPct val="100000"/>
              </a:lnSpc>
              <a:spcBef>
                <a:spcPts val="105"/>
              </a:spcBef>
            </a:pPr>
            <a:r>
              <a:rPr spc="-10" dirty="0"/>
              <a:t>REFERENCES</a:t>
            </a:r>
          </a:p>
        </p:txBody>
      </p:sp>
      <p:pic>
        <p:nvPicPr>
          <p:cNvPr id="4" name="object 4"/>
          <p:cNvPicPr/>
          <p:nvPr/>
        </p:nvPicPr>
        <p:blipFill>
          <a:blip r:embed="rId3" cstate="print"/>
          <a:stretch>
            <a:fillRect/>
          </a:stretch>
        </p:blipFill>
        <p:spPr>
          <a:xfrm>
            <a:off x="52394" y="68821"/>
            <a:ext cx="1805869" cy="1150378"/>
          </a:xfrm>
          <a:prstGeom prst="rect">
            <a:avLst/>
          </a:prstGeom>
        </p:spPr>
      </p:pic>
      <p:sp>
        <p:nvSpPr>
          <p:cNvPr id="5" name="object 5"/>
          <p:cNvSpPr txBox="1">
            <a:spLocks noGrp="1"/>
          </p:cNvSpPr>
          <p:nvPr>
            <p:ph type="body" idx="1"/>
          </p:nvPr>
        </p:nvSpPr>
        <p:spPr>
          <a:xfrm>
            <a:off x="1527428" y="2023110"/>
            <a:ext cx="9137142" cy="1572225"/>
          </a:xfrm>
          <a:prstGeom prst="rect">
            <a:avLst/>
          </a:prstGeom>
        </p:spPr>
        <p:txBody>
          <a:bodyPr vert="horz" wrap="square" lIns="0" tIns="33020" rIns="0" bIns="0" rtlCol="0">
            <a:spAutoFit/>
          </a:bodyPr>
          <a:lstStyle/>
          <a:p>
            <a:pPr marL="559435" marR="2636520" indent="-342900">
              <a:lnSpc>
                <a:spcPts val="3290"/>
              </a:lnSpc>
              <a:spcBef>
                <a:spcPts val="260"/>
              </a:spcBef>
              <a:buSzPct val="71428"/>
              <a:buAutoNum type="arabicPeriod"/>
              <a:tabLst>
                <a:tab pos="559435" algn="l"/>
              </a:tabLst>
            </a:pPr>
            <a:r>
              <a:rPr lang="en-US" spc="-25" dirty="0"/>
              <a:t>React Documentation</a:t>
            </a:r>
            <a:r>
              <a:rPr lang="en-IN" spc="-90" dirty="0"/>
              <a:t> </a:t>
            </a:r>
            <a:r>
              <a:rPr lang="en-IN" spc="-50" dirty="0"/>
              <a:t>– https://react.dev/learn</a:t>
            </a:r>
            <a:endParaRPr u="sng" spc="-10" dirty="0">
              <a:solidFill>
                <a:srgbClr val="0462C1"/>
              </a:solidFill>
              <a:uFill>
                <a:solidFill>
                  <a:srgbClr val="0462C1"/>
                </a:solidFill>
              </a:uFill>
              <a:hlinkClick r:id="rId4"/>
            </a:endParaRPr>
          </a:p>
          <a:p>
            <a:pPr marL="558800" indent="-342265">
              <a:lnSpc>
                <a:spcPts val="2210"/>
              </a:lnSpc>
              <a:buSzPct val="71428"/>
              <a:buAutoNum type="arabicPeriod"/>
              <a:tabLst>
                <a:tab pos="558800" algn="l"/>
              </a:tabLst>
            </a:pPr>
            <a:r>
              <a:rPr lang="en-US" spc="-55" dirty="0"/>
              <a:t>Express Documentation</a:t>
            </a:r>
            <a:r>
              <a:rPr spc="-55" dirty="0"/>
              <a:t> </a:t>
            </a:r>
            <a:r>
              <a:rPr dirty="0"/>
              <a:t>–</a:t>
            </a:r>
            <a:r>
              <a:rPr spc="-70" dirty="0"/>
              <a:t> </a:t>
            </a:r>
            <a:r>
              <a:rPr lang="en-IN" spc="-10" dirty="0"/>
              <a:t>https://expressjs.com</a:t>
            </a:r>
            <a:endParaRPr spc="-10" dirty="0"/>
          </a:p>
          <a:p>
            <a:pPr marL="558800" indent="-342265">
              <a:lnSpc>
                <a:spcPts val="3160"/>
              </a:lnSpc>
              <a:buSzPct val="71428"/>
              <a:buAutoNum type="arabicPeriod"/>
              <a:tabLst>
                <a:tab pos="558800" algn="l"/>
              </a:tabLst>
            </a:pPr>
            <a:r>
              <a:rPr lang="en-US" dirty="0" err="1"/>
              <a:t>Youtube</a:t>
            </a:r>
            <a:endParaRPr spc="-1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33376" y="1779723"/>
            <a:ext cx="6361132" cy="507827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105</TotalTime>
  <Words>524</Words>
  <Application>Microsoft Office PowerPoint</Application>
  <PresentationFormat>Widescreen</PresentationFormat>
  <Paragraphs>60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Times New Roman</vt:lpstr>
      <vt:lpstr>Trebuchet MS</vt:lpstr>
      <vt:lpstr>Office Theme</vt:lpstr>
      <vt:lpstr>Noida Institute of Engineering and Technology, Greater Noida</vt:lpstr>
      <vt:lpstr>Noida Institute of Engineering and Technology, Greater Noida</vt:lpstr>
      <vt:lpstr>FLOW OF THE PROJECT</vt:lpstr>
      <vt:lpstr>TECHNOLOGY USED</vt:lpstr>
      <vt:lpstr>FEATURES OF THE PROJECT</vt:lpstr>
      <vt:lpstr>SNAPSHOTS OF THE PROJECT</vt:lpstr>
      <vt:lpstr>SNAPSHOTS OF THE PROJECT</vt:lpstr>
      <vt:lpstr>OUTPUT OF THE PROJECT</vt:lpstr>
      <vt:lpstr>OUTPUT OF THE PROJECT</vt:lpstr>
      <vt:lpstr>FUTURE GOALS</vt:lpstr>
      <vt:lpstr>SCOPE OF THE PROJECT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Darshita Dixit</dc:creator>
  <cp:lastModifiedBy>Shraddha Tripathi</cp:lastModifiedBy>
  <cp:revision>5</cp:revision>
  <dcterms:created xsi:type="dcterms:W3CDTF">2025-05-15T14:47:22Z</dcterms:created>
  <dcterms:modified xsi:type="dcterms:W3CDTF">2025-05-16T07:10:25Z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2025-05-15T00:00:00Z</vt:filetime>
  </property>
  <property fmtid="{D5CDD505-2E9C-101B-9397-08002B2CF9AE}" pid="3" name="Creator">
    <vt:lpwstr>Microsoft® PowerPoint® 2021</vt:lpwstr>
  </property>
  <property fmtid="{D5CDD505-2E9C-101B-9397-08002B2CF9AE}" pid="4" name="LastSaved">
    <vt:filetime>2025-05-15T00:00:00Z</vt:filetime>
  </property>
  <property fmtid="{D5CDD505-2E9C-101B-9397-08002B2CF9AE}" pid="5" name="Producer">
    <vt:lpwstr>Microsoft® PowerPoint® 2021</vt:lpwstr>
  </property>
</Properties>
</file>